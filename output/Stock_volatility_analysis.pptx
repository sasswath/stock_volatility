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Volatility Analysis (Sasswath/Stock_volatility)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Dataset: 5 NSE stocks (2020-01-01 to 2025-12-30), 1,485 daily log returns per stock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 daily stock-return behavior and risk using repository outputs.</a:t>
            </a:r>
          </a:p>
          <a:p>
            <a:pPr>
              <a:defRPr sz="2000"/>
            </a:pPr>
            <a:r>
              <a:t>Compare Normal vs Student-t fits for representative stock (TCS).</a:t>
            </a:r>
          </a:p>
          <a:p>
            <a:pPr>
              <a:defRPr sz="2000"/>
            </a:pPr>
            <a:r>
              <a:t>Quantify tails, volatility, simulation outcomes, and VaR implications.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71323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  if (nrow(df) &gt; 1) {</a:t>
            </a:r>
            <a:br/>
            <a:r>
              <a:t>    df &lt;- df %&gt;% arrange(date)</a:t>
            </a:r>
            <a:br/>
            <a:r>
              <a:t>    df$log_ret &lt;- c(NA, log(df$adj_close[-1] / df$adj_close[-nrow(df)]))</a:t>
            </a:r>
            <a:br/>
            <a:r>
              <a:t>    df$simple_ret &lt;- c(NA, (df$adj_close[-1] - df$adj_close[-nrow(df)]) / df$adj_close[-nrow(df)])</a:t>
            </a:r>
            <a:br/>
            <a:r>
              <a:t>    </a:t>
            </a:r>
            <a:br/>
            <a:r>
              <a:t>    ret_na &lt;- sum(is.na(df$log_ret))</a:t>
            </a:r>
            <a:br/>
            <a:r>
              <a:t>    log_msg("\nH. Daily returns")</a:t>
            </a:r>
            <a:br/>
            <a:r>
              <a:t>    log_msg(sprintf("  Returns computed: %d (NAs: %d, first obs)", nrow(df) - 1, ret_na))</a:t>
            </a:r>
            <a:br/>
            <a:r>
              <a:t>    </a:t>
            </a:r>
            <a:br/>
            <a:r>
              <a:t>    # Extreme returns: |z| &gt; 5 on returns</a:t>
            </a:r>
            <a:br/>
            <a:r>
              <a:t>    r_mean &lt;- mean(df$log_ret, na.rm = TRUE)</a:t>
            </a:r>
            <a:br/>
            <a:r>
              <a:t>    r_sd   &lt;- sd(df$log_ret, na.rm = TRUE)</a:t>
            </a:r>
            <a:br/>
            <a:r>
              <a:t>    df$z_ret &lt;- (df$log_ret - r_mean) / r_sd</a:t>
            </a:r>
            <a:br/>
            <a:r>
              <a:t>    extreme_ret &lt;- abs(df$z_ret) &gt; 5</a:t>
            </a:r>
            <a:br/>
            <a:r>
              <a:t>    n_extreme_ret &lt;- sum(extreme_ret, na.rm = TRUE)</a:t>
            </a:r>
            <a:br/>
            <a:r>
              <a:t>    log_msg(sprintf("  Rows with |z_ret| &gt; 5 (extreme returns): %d", n_extreme_ret))</a:t>
            </a:r>
            <a:br/>
            <a:r>
              <a:t>    if (n_extreme_ret &gt; 0) {</a:t>
            </a:r>
            <a:br/>
            <a:r>
              <a:t>      ext_ret &lt;- df %&gt;% filter(!is.na(log_ret)) %&gt;% filter(abs(z_ret) &gt; 5) %&gt;%</a:t>
            </a:r>
            <a:br/>
            <a:r>
              <a:t>        arrange(desc(abs(log_ret)))</a:t>
            </a:r>
            <a:br/>
            <a:r>
              <a:t>      write_csv(ext_ret[, c("date", "ticker", "simple_ret", "log_ret", "z_ret")],</a:t>
            </a:r>
            <a:br/>
            <a:r>
              <a:t>                file.path(.project_root(), "output", "tables",</a:t>
            </a:r>
            <a:br/>
            <a:r>
              <a:t>                          sprintf("extreme_returns_%s.csv", ticker)))</a:t>
            </a:r>
            <a:br/>
            <a:r>
              <a:t>      log_msg("  Extreme returns are EXPOSED here and retained for analysis.")</a:t>
            </a:r>
            <a:br/>
            <a:r>
              <a:t>    }</a:t>
            </a:r>
            <a:br/>
            <a: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097280"/>
            <a:ext cx="43891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Raw rows: 7430; cleaned rows: 7430; removed: 0.</a:t>
            </a:r>
          </a:p>
          <a:p>
            <a:pPr>
              <a:defRPr sz="1600"/>
            </a:pPr>
            <a:r>
              <a:t>Cleaning checks: datatypes, duplicates, NA, invalid prices, date ordering.</a:t>
            </a:r>
          </a:p>
          <a:p>
            <a:pPr>
              <a:defRPr sz="1600"/>
            </a:pPr>
            <a:r>
              <a:t>Outliers/extreme returns are flagged (|z_ret| &gt; 5) and retained for analysis.</a:t>
            </a:r>
          </a:p>
          <a:p>
            <a:pPr>
              <a:defRPr sz="1600"/>
            </a:pPr>
            <a:r>
              <a:t>Total flagged extreme returns across 5 stocks: 25.</a:t>
            </a:r>
          </a:p>
          <a:p>
            <a:pPr>
              <a:defRPr sz="1600"/>
            </a:pPr>
            <a:r>
              <a:t>Source: R/03_data_cleaning.R + output/tables/cleaning_summary.csv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Data visualization</a:t>
            </a:r>
          </a:p>
        </p:txBody>
      </p:sp>
      <p:pic>
        <p:nvPicPr>
          <p:cNvPr id="3" name="Picture 2" descr="historical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42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Historical adjusted prices and cumulative-return patterns differ by stock.</a:t>
            </a:r>
          </a:p>
          <a:p>
            <a:pPr>
              <a:defRPr sz="1800"/>
            </a:pPr>
            <a:r>
              <a:t>Distribution/volatility visuals are built from output/figures artifacts.</a:t>
            </a:r>
          </a:p>
          <a:p>
            <a:pPr>
              <a:defRPr sz="1800"/>
            </a:pPr>
            <a:r>
              <a:t>Representative stock selected objectively: TCS.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Outlier analysis</a:t>
            </a:r>
          </a:p>
        </p:txBody>
      </p:sp>
      <p:pic>
        <p:nvPicPr>
          <p:cNvPr id="3" name="Picture 2" descr="extreme_retur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834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Method: return z-scores on daily log returns; extreme if |z_ret| &gt; 5.</a:t>
            </a:r>
          </a:p>
          <a:p>
            <a:pPr>
              <a:defRPr sz="1800"/>
            </a:pPr>
            <a:r>
              <a:t>Extreme-return counts: HDFCBANK 4, INFOSYS 7, LT 8, RELIANCE 4, TCS 2.</a:t>
            </a:r>
          </a:p>
          <a:p>
            <a:pPr>
              <a:defRPr sz="1800"/>
            </a:pPr>
            <a:r>
              <a:t>These events are analyzed as financially meaningful tail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Removing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automatic outlier deletion was applied in this repository pipeline.</a:t>
            </a:r>
          </a:p>
          <a:p>
            <a:pPr>
              <a:defRPr sz="2000"/>
            </a:pPr>
            <a:r>
              <a:t>Evidence: n_raw == n_clean for all 5 stocks in cleaning_summary.csv.</a:t>
            </a:r>
          </a:p>
          <a:p>
            <a:pPr>
              <a:defRPr sz="2000"/>
            </a:pPr>
            <a:r>
              <a:t>Reason: preserving tail events is essential for volatility/tail-risk/VaR analysis.</a:t>
            </a:r>
          </a:p>
          <a:p>
            <a:pPr>
              <a:defRPr sz="2000"/>
            </a:pPr>
            <a:r>
              <a:t>Retained data supports robust comparison of Normal vs heavy-tailed Student-t.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Graphical analysis</a:t>
            </a:r>
          </a:p>
        </p:txBody>
      </p:sp>
      <p:pic>
        <p:nvPicPr>
          <p:cNvPr id="3" name="Picture 2" descr="qq_plot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692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Diagnostic plots: Q-Q (Normal vs Student-t), density overlays, CDF comparison.</a:t>
            </a:r>
          </a:p>
          <a:p>
            <a:pPr>
              <a:defRPr sz="1800"/>
            </a:pPr>
            <a:r>
              <a:t>Representative stock: TCS; sample skewness ≈ -0.282, kurtosis ≈ 7.905.</a:t>
            </a:r>
          </a:p>
          <a:p>
            <a:pPr>
              <a:defRPr sz="1800"/>
            </a:pPr>
            <a:r>
              <a:t>Visual tail departures motivate heavy-tail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Correlation and variance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4251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Highest pairwise correlation: INFOSYS–TCS = 0.684.</a:t>
            </a:r>
          </a:p>
          <a:p>
            <a:pPr>
              <a:defRPr sz="1800"/>
            </a:pPr>
            <a:r>
              <a:t>TCS annualized volatility: 23.8940%.</a:t>
            </a:r>
          </a:p>
          <a:p>
            <a:pPr>
              <a:defRPr sz="1800"/>
            </a:pPr>
            <a:r>
              <a:t>Volatility differs by stock (see comparative_volatility.png).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9)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Unavailable in current repository outputs/scripts.</a:t>
            </a:r>
          </a:p>
          <a:p>
            <a:pPr>
              <a:defRPr sz="2000"/>
            </a:pPr>
            <a:r>
              <a:t>No regression model (e.g., lm/glm) artifacts are produced for this workflow.</a:t>
            </a:r>
          </a:p>
          <a:p>
            <a:pPr>
              <a:defRPr sz="2000"/>
            </a:pPr>
            <a:r>
              <a:t>The analysis focuses on distribution fitting, diagnostics, simulation, and VaR.</a:t>
            </a:r>
          </a:p>
          <a:p>
            <a:pPr>
              <a:defRPr sz="2000"/>
            </a:pPr>
            <a:r>
              <a:t>Result reporting remains transparent: no fabricated regression assumptions or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10) Prediction</a:t>
            </a:r>
          </a:p>
        </p:txBody>
      </p:sp>
      <p:pic>
        <p:nvPicPr>
          <p:cNvPr id="3" name="Picture 2" descr="monte_carlo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0923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Prediction artifacts are simulation-based (not price-forecast models).</a:t>
            </a:r>
          </a:p>
          <a:p>
            <a:pPr>
              <a:defRPr sz="1800"/>
            </a:pPr>
            <a:r>
              <a:t>Normal MC: SD=1.51%, P1=-3.58%, loss prob=0.4975.</a:t>
            </a:r>
          </a:p>
          <a:p>
            <a:pPr>
              <a:defRPr sz="1800"/>
            </a:pPr>
            <a:r>
              <a:t>Student-t MC: SD=1.47%, P1=-3.72%, loss prob=0.4929.</a:t>
            </a:r>
          </a:p>
          <a:p>
            <a:pPr>
              <a:defRPr sz="1800"/>
            </a:pPr>
            <a:r>
              <a:t>Empirical resampling: P1=-3.75%, loss prob=0.4997.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11) Comparing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Normal: AIC -8245.63, BIC -8235.02, KS p=0.</a:t>
            </a:r>
          </a:p>
          <a:p>
            <a:pPr>
              <a:defRPr sz="1800"/>
            </a:pPr>
            <a:r>
              <a:t>Student-t: AIC -8404.99, BIC -8389.09, KS p=0.8035.</a:t>
            </a:r>
          </a:p>
          <a:p>
            <a:pPr>
              <a:defRPr sz="1800"/>
            </a:pPr>
            <a:r>
              <a:t>Student-t df estimate: 4.747 (heavier tails than Normal).</a:t>
            </a:r>
          </a:p>
          <a:p>
            <a:pPr>
              <a:defRPr sz="1800"/>
            </a:pPr>
            <a:r>
              <a:t>Interpretation: Student-t fits observed tail behavior better on this dataset.</a:t>
            </a:r>
          </a:p>
          <a:p>
            <a:pPr>
              <a:defRPr sz="1800"/>
            </a:pPr>
            <a:r>
              <a:t>Why compare these two? Normal is the light-tailed benchmark; Student-t captures excess kurtosis common in returns.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12) Gain curve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 applicable for this repository's return-distribution workflow.</a:t>
            </a:r>
          </a:p>
          <a:p>
            <a:pPr>
              <a:defRPr sz="2000"/>
            </a:pPr>
            <a:r>
              <a:t>Gain/lift curves require ranked classification with a binary target.</a:t>
            </a:r>
          </a:p>
          <a:p>
            <a:pPr>
              <a:defRPr sz="2000"/>
            </a:pPr>
            <a:r>
              <a:t>Here, outputs model continuous financial returns, volatility, and tail quantiles (VaR), not class probabilities.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13)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Dataset: five stocks, 1485 daily returns each; representative ticker: TCS.</a:t>
            </a:r>
          </a:p>
          <a:p>
            <a:pPr>
              <a:defRPr sz="1700"/>
            </a:pPr>
            <a:r>
              <a:t>CLT check at n=100: empirical/theoretical SE ratio = 0.999.</a:t>
            </a:r>
          </a:p>
          <a:p>
            <a:pPr>
              <a:defRPr sz="1700"/>
            </a:pPr>
            <a:r>
              <a:t>Heavy tails matter: Student-t improves fit versus Normal on TCS tail behavior.</a:t>
            </a:r>
          </a:p>
          <a:p>
            <a:pPr>
              <a:defRPr sz="1700"/>
            </a:pPr>
            <a:r>
              <a:t>Why no z-test: population variance is unknown; returns are heavy-tailed/dependent, so known-variance mean-z testing is not appropriate.</a:t>
            </a:r>
          </a:p>
          <a:p>
            <a:pPr>
              <a:defRPr sz="1700"/>
            </a:pPr>
            <a:r>
              <a:t>Repository uses t-test (R/09) and distribution/robust risk analyses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used in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600"/>
            </a:pPr>
            <a:r>
              <a:t>Scripts: R/03_data_cleaning.R, R/07_distribution_fitting.R, R/09_hypothesis_testing.R, R/14_var_analysis.R</a:t>
            </a:r>
          </a:p>
          <a:p>
            <a:pPr algn="l">
              <a:defRPr sz="1600"/>
            </a:pPr>
            <a:r>
              <a:t>Tables: output/tables/cleaning_summary.csv, 5stock_descriptive_stats.csv, model_comparison_summary.csv,</a:t>
            </a:r>
          </a:p>
          <a:p>
            <a:pPr algn="l">
              <a:defRPr sz="1600"/>
            </a:pPr>
            <a:r>
              <a:t>        goodness_of_fit_summary.csv, monte_carlo_summary.csv, clt_summary.csv, correlation_matrix.csv, t_fit_params.csv</a:t>
            </a:r>
          </a:p>
          <a:p>
            <a:pPr algn="l">
              <a:defRPr sz="1600"/>
            </a:pPr>
            <a:r>
              <a:t>Figures: output/figures/historical_prices.png, extreme_return_plot.png, qq_plots_combined.png,</a:t>
            </a:r>
          </a:p>
          <a:p>
            <a:pPr algn="l">
              <a:defRPr sz="1600"/>
            </a:pPr>
            <a:r>
              <a:t>         correlation_heatmap.png, monte_carlo_simulation.png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